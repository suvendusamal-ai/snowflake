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Governance</c:v>
                </c:pt>
                <c:pt idx="1">
                  <c:v>AI Integration</c:v>
                </c:pt>
                <c:pt idx="2">
                  <c:v>Engineering</c:v>
                </c:pt>
                <c:pt idx="3">
                  <c:v>Interoperability</c:v>
                </c:pt>
                <c:pt idx="4">
                  <c:v>FinOps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90</c:v>
                </c:pt>
                <c:pt idx="2">
                  <c:v>82</c:v>
                </c:pt>
                <c:pt idx="3">
                  <c:v>78</c:v>
                </c:pt>
                <c:pt idx="4">
                  <c:v>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NovaTech 2026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029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Illustrative market view for Enterprise Data &amp; AI Platforms</a:t>
            </a:r>
          </a:p>
          <a:p>
            <a:pPr>
              <a:defRPr sz="1800"/>
            </a:pPr>
            <a:r>
              <a:t>Snowflake: governed data + native AI/search + data sharing</a:t>
            </a:r>
          </a:p>
          <a:p>
            <a:pPr>
              <a:defRPr sz="1800"/>
            </a:pPr>
            <a:r>
              <a:t>Databricks: engineering-led lakehouse + ML/AI flexibility</a:t>
            </a:r>
          </a:p>
          <a:p>
            <a:pPr>
              <a:defRPr sz="1800"/>
            </a:pPr>
            <a:r>
              <a:t>Microsoft: integrated Azure + productivity/security ecosystem</a:t>
            </a:r>
          </a:p>
          <a:p>
            <a:pPr>
              <a:defRPr sz="1800"/>
            </a:pPr>
            <a:r>
              <a:t>AWS: broad cloud services + infrastructure ecosystem</a:t>
            </a:r>
          </a:p>
          <a:p>
            <a:pPr>
              <a:defRPr sz="1800"/>
            </a:pPr>
            <a:r>
              <a:t>Google Cloud: analytics + AI innovation</a:t>
            </a:r>
          </a:p>
        </p:txBody>
      </p:sp>
      <p:pic>
        <p:nvPicPr>
          <p:cNvPr id="4" name="Picture 3" descr="market_share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2024-2026 Share Movement</a:t>
            </a:r>
          </a:p>
        </p:txBody>
      </p:sp>
      <p:pic>
        <p:nvPicPr>
          <p:cNvPr id="3" name="Picture 2" descr="share_change_2024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486400" cy="3086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92240" y="1371600"/>
            <a:ext cx="48463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Key interpretation</a:t>
            </a:r>
          </a:p>
          <a:p>
            <a:pPr>
              <a:defRPr sz="1900"/>
            </a:pPr>
            <a:r>
              <a:t>Snowflake: +4.5 percentage points</a:t>
            </a:r>
          </a:p>
          <a:p>
            <a:pPr>
              <a:defRPr sz="1900"/>
            </a:pPr>
            <a:r>
              <a:t>Databricks: +2.5 percentage points</a:t>
            </a:r>
          </a:p>
          <a:p>
            <a:pPr>
              <a:defRPr sz="1900"/>
            </a:pPr>
            <a:r>
              <a:t>Microsoft: -1.0 percentage point</a:t>
            </a:r>
          </a:p>
          <a:p>
            <a:pPr>
              <a:defRPr sz="1900"/>
            </a:pPr>
            <a:r>
              <a:t>AWS: -3.0 percentage points</a:t>
            </a:r>
          </a:p>
          <a:p>
            <a:pPr>
              <a:defRPr sz="1900"/>
            </a:pPr>
            <a:r>
              <a:t>Google Cloud: -3.0 percentage points</a:t>
            </a:r>
          </a:p>
          <a:p>
            <a:pPr>
              <a:defRPr sz="1900"/>
            </a:pPr>
            <a:r>
              <a:t>Values are synthetic and illustrative.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Buyer Decision Drivers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65836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58952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RAG implication</a:t>
            </a:r>
          </a:p>
          <a:p>
            <a:pPr>
              <a:defRPr sz="1800"/>
            </a:pPr>
            <a:r>
              <a:t>Search relevance alone is insufficient.</a:t>
            </a:r>
          </a:p>
          <a:p>
            <a:pPr>
              <a:defRPr sz="1800"/>
            </a:pPr>
            <a:r>
              <a:t>Authorization and freshness must shape retrieval.</a:t>
            </a:r>
          </a:p>
          <a:p>
            <a:pPr>
              <a:defRPr sz="1800"/>
            </a:pPr>
            <a:r>
              <a:t>Agent tools must be observable and governed.</a:t>
            </a:r>
          </a:p>
          <a:p>
            <a:pPr>
              <a:defRPr sz="1800"/>
            </a:pPr>
            <a:r>
              <a:t>Cross-source answers require provenance.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